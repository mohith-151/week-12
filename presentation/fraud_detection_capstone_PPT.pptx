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2926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CAPSTONE PROJECT  | 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Real-Time Financial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B4D8"/>
                </a:solidFill>
                <a:latin typeface="Calibri"/>
              </a:rPr>
              <a:t>Fraud Detection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Calibri"/>
              </a:rPr>
              <a:t>Protecting early-stage startups from payment fraud
without sacrificing legitimate customer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Mohith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Calibri"/>
              </a:rPr>
              <a:t>Data Science Capstone  |  XGBoost · PaySim · Streamlit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118872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74352" y="1188720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21824" y="1188720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69296" y="118872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16767" y="1188720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64240" y="1188720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11712" y="118872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759184" y="1188720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1938528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74352" y="1938528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21824" y="193852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69296" y="1938528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16767" y="1938528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64240" y="193852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411712" y="1938528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759184" y="1938528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26880" y="2688336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74352" y="268833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21824" y="2688336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69296" y="2688336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16767" y="268833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064240" y="2688336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411712" y="2688336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759184" y="268833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326880" y="34381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74352" y="3438144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021824" y="3438144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69296" y="34381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16767" y="3438144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064240" y="3438144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411712" y="34381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759184" y="3438144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326880" y="4187952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74352" y="4187952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021824" y="418795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369296" y="4187952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716767" y="4187952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064240" y="418795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411712" y="4187952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759184" y="4187952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326880" y="4937759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674352" y="4937759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021824" y="4937759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369296" y="4937759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716767" y="4937759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064240" y="4937759"/>
            <a:ext cx="109728" cy="109728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411712" y="4937759"/>
            <a:ext cx="109728" cy="109728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759184" y="4937759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Fraud vs. Friction: A Startup's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09728" cy="438912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920240"/>
            <a:ext cx="594360" cy="594360"/>
          </a:xfrm>
          <a:prstGeom prst="ellipse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67788"/>
            <a:ext cx="594360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019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Fraud Causes Direct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Every fraudulent transaction drains capital — often before the startup has reserves to absorb it.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6580"/>
                </a:solidFill>
                <a:latin typeface="Calibri"/>
              </a:rPr>
              <a:t>For early-stage companies, a single fraud campaign can be existential.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F233C"/>
                </a:solidFill>
                <a:latin typeface="Calibri"/>
              </a:rPr>
              <a:t>Global payment fraud losses exceeded $40 billion in 2023.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6459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6792" y="1645920"/>
            <a:ext cx="109728" cy="438912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920240"/>
            <a:ext cx="594360" cy="594360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967788"/>
            <a:ext cx="594360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9019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False Positives Hurt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Blocking a legitimate customer is not a 'safe' error — it destroys trust and drives churn.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6580"/>
                </a:solidFill>
                <a:latin typeface="Calibri"/>
              </a:rPr>
              <a:t>A flagged customer rarely complains; they just switch to a competitor.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E0B"/>
                </a:solidFill>
                <a:latin typeface="Calibri"/>
              </a:rPr>
              <a:t>Studies show 40% of falsely flagged customers never return.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2834640"/>
            <a:ext cx="896112" cy="896112"/>
          </a:xfrm>
          <a:prstGeom prst="ellipse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41848" y="2926080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The Hidden Tax: What False Positives Really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728216"/>
            <a:ext cx="3520440" cy="41148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520440" cy="73152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F233C"/>
                </a:solidFill>
                <a:latin typeface="Calibri"/>
              </a:rPr>
              <a:t>$$$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Revenue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  <a:latin typeface="Calibri"/>
              </a:rPr>
              <a:t>Every blocked legitimate transaction is direct revenue thrown away. For a startup processing $1M/month, even a 1% false-positive rate means $10,000 in lost GMV — every single month.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728216"/>
            <a:ext cx="3520440" cy="41148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78808" y="169164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8808" y="1691640"/>
            <a:ext cx="3520440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78808" y="18745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BE0B"/>
                </a:solidFill>
                <a:latin typeface="Calibr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060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Customer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063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  <a:latin typeface="Calibri"/>
              </a:rPr>
              <a:t>4 in 10 customers who are falsely flagged will abandon the platform permanently. In a growth-stage startup, no acquisition budget compensates for a broken trust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728216"/>
            <a:ext cx="3520440" cy="41148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82712" y="169164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82712" y="1691640"/>
            <a:ext cx="3520440" cy="73152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82712" y="18745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315C"/>
                </a:solidFill>
                <a:latin typeface="Calibri"/>
              </a:rPr>
              <a:t>NPS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6060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Brand Damage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063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  <a:latin typeface="Calibri"/>
              </a:rPr>
              <a:t>A declined card in a checkout flow is humiliating. Customers post about it. Your Net Promoter Score drops. This intangible cost compounds silently over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89320"/>
            <a:ext cx="11457432" cy="59436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goal is not to eliminate all fraud flags — it is to strike the right balance between security and customer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The Dataset: PaySim Synthetic Financial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00" cy="480060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About PaySim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PaySim is a mobile money simulation dataset built from real transaction logs provided by a multinational mobile financial services company.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B0C8E8"/>
                </a:solidFill>
                <a:latin typeface="Calibri"/>
              </a:rPr>
              <a:t>It replicates the statistical properties of real payment flows — making it the industry benchmark for testing fraud detection models.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B4D8"/>
                </a:solidFill>
                <a:latin typeface="Calibri"/>
              </a:rPr>
              <a:t>Transaction Types Covered: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CASH_IN   ·   CASH_OUT   ·   DEBIT   ·   PAYMENT   ·   TRANSFER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216" y="1636776"/>
            <a:ext cx="2606040" cy="20116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318,131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Total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9136" y="1636776"/>
            <a:ext cx="2606040" cy="20116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60" y="16002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783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D6A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377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Transaction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3877056"/>
            <a:ext cx="2606040" cy="20116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0233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233C"/>
                </a:solidFill>
                <a:latin typeface="Calibri"/>
              </a:rPr>
              <a:t>0.12%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61772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Fraud Rate (Highly Rare)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3877056"/>
            <a:ext cx="2606040" cy="20116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384048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40233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E0B"/>
                </a:solidFill>
                <a:latin typeface="Calibri"/>
              </a:rPr>
              <a:t>$1.47M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61772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Avg. Fraud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EDA INSIGHT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The Transaction Type Trap: Where Fraud Hides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2E"/>
                </a:solidFill>
                <a:latin typeface="Calibri"/>
              </a:rPr>
              <a:t>CASH_IN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691640"/>
            <a:ext cx="4389120" cy="4572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59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Calibri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86584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2E"/>
                </a:solidFill>
                <a:latin typeface="Calibri"/>
              </a:rPr>
              <a:t>PAYMENT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386584"/>
            <a:ext cx="4389120" cy="4572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59" y="23865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Calibr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2E"/>
                </a:solidFill>
                <a:latin typeface="Calibri"/>
              </a:rPr>
              <a:t>DEBIT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081528"/>
            <a:ext cx="4389120" cy="4572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59" y="3081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1A1A2E"/>
                </a:solidFill>
                <a:latin typeface="Calibri"/>
              </a:rPr>
              <a:t>TRANSFER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3776472"/>
            <a:ext cx="4389120" cy="4572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74519" y="3776472"/>
            <a:ext cx="2194560" cy="45720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19" y="37764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233C"/>
                </a:solidFill>
                <a:latin typeface="Calibri"/>
              </a:rPr>
              <a:t>50% of fraud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7141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1A1A2E"/>
                </a:solidFill>
                <a:latin typeface="Calibri"/>
              </a:rPr>
              <a:t>CASH_OUT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471416"/>
            <a:ext cx="4389120" cy="45720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4471416"/>
            <a:ext cx="2194560" cy="45720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19" y="44714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233C"/>
                </a:solidFill>
                <a:latin typeface="Calibri"/>
              </a:rPr>
              <a:t>50% of fraud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65776"/>
            <a:ext cx="6400800" cy="36576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233C"/>
                </a:solidFill>
                <a:latin typeface="Calibri"/>
              </a:rPr>
              <a:t>Fraud is 100% concentrated in TRANSFER and CASH_OUT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600200"/>
            <a:ext cx="4343400" cy="480060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1783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33172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Fraud never occurs in CASH_IN, PAYMENT, or DEBIT transactions.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B0C8E8"/>
                </a:solidFill>
                <a:latin typeface="Calibri"/>
              </a:rPr>
              <a:t>This is a powerful feature signal: transaction type alone can eliminate 60% of the search space before any ML model is invoked.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B4D8"/>
                </a:solidFill>
                <a:latin typeface="Calibri"/>
              </a:rPr>
              <a:t>Model Impact: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Transaction type was engineered as a binary categorical feature and ranked as the #1 most important variable in the XGBoost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EDA INSIGHT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Financial Footprint: Fraud Operates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91640"/>
            <a:ext cx="6336792" cy="228600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6336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EF233C"/>
                </a:solidFill>
                <a:latin typeface="Calibri"/>
              </a:rPr>
              <a:t>$1,467,074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926080"/>
            <a:ext cx="6336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580"/>
                </a:solidFill>
                <a:latin typeface="Calibri"/>
              </a:rPr>
              <a:t>Average Fraudulent Transaction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474720" cy="169164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34747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  <a:latin typeface="Calibri"/>
              </a:rPr>
              <a:t>$179,862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Avg. Legitimate Transfer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4206240"/>
            <a:ext cx="3474720" cy="169164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4206240"/>
            <a:ext cx="3474720" cy="64008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4315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BE0B"/>
                </a:solidFill>
                <a:latin typeface="Calibri"/>
              </a:rPr>
              <a:t>8.2×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Fraud Amount Multiplier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206240"/>
            <a:ext cx="3474720" cy="169164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4206240"/>
            <a:ext cx="3474720" cy="64008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4315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233C"/>
                </a:solidFill>
                <a:latin typeface="Calibri"/>
              </a:rPr>
              <a:t>$92.4M+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Total Fraud in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9AB4"/>
                </a:solidFill>
                <a:latin typeface="Calibri"/>
              </a:rPr>
              <a:t>Fraud transactions are not random small charges — they are large, deliberate extractions. This scale difference is a critical engineered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Extreme Class Imbalance: The Core ML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59895" cy="8686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17095" y="2011680"/>
            <a:ext cx="14656" cy="86868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99.87%  NORMAL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9895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233C"/>
                </a:solidFill>
                <a:latin typeface="Calibri"/>
              </a:rPr>
              <a:t>0.13%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317,744 Legitimate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  <a:latin typeface="Calibri"/>
              </a:rPr>
              <a:t>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F233C"/>
                </a:solidFill>
                <a:latin typeface="Calibri"/>
              </a:rPr>
              <a:t>387 Fraudulent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74552" cy="246888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Why Imbalance Is Dangerous for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 naive model that predicts 'Normal' for every transaction achieves 99.87% accuracy — yet catches zero fraud.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B0C8E8"/>
                </a:solidFill>
                <a:latin typeface="Calibri"/>
              </a:rPr>
              <a:t>Traditional accuracy metrics are completely misleading in this context. We need smarter evaluation.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BE0B"/>
                </a:solidFill>
                <a:latin typeface="Calibri"/>
              </a:rPr>
              <a:t>Solution: Algorithmic penalization via scale_pos_weight = 348.43, forcing the model to treat fraud cases as 348× more important.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ML Strategy: XGBoost + Algorithmic Penalization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728216"/>
            <a:ext cx="2606040" cy="38404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691640"/>
            <a:ext cx="26060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691640"/>
            <a:ext cx="260604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7028" y="192024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7028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7432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Data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20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Encode transaction types, engineer delta-balance features, remove leakage columns.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728216"/>
            <a:ext cx="2606040" cy="38404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8416" y="1691640"/>
            <a:ext cx="26060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8416" y="1691640"/>
            <a:ext cx="2606040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11396" y="1920240"/>
            <a:ext cx="640080" cy="6400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1396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7432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Imbalance
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3520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Set scale_pos_weight = 348.43 — no synthetic oversampling needed, no data distortion.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728216"/>
            <a:ext cx="2606040" cy="38404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2784" y="1691640"/>
            <a:ext cx="26060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1691640"/>
            <a:ext cx="2606040" cy="8229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55764" y="1920240"/>
            <a:ext cx="640080" cy="640080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5764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7432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XGBoost
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520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Gradient-boosted trees with 200 estimators, max depth 6. Handles non-linear patterns natively.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53728" y="1728216"/>
            <a:ext cx="2606040" cy="3840480"/>
          </a:xfrm>
          <a:prstGeom prst="rect">
            <a:avLst/>
          </a:prstGeom>
          <a:solidFill>
            <a:srgbClr val="D0D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17152" y="1691640"/>
            <a:ext cx="26060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17152" y="1691640"/>
            <a:ext cx="2606040" cy="82296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200132" y="1920240"/>
            <a:ext cx="640080" cy="640080"/>
          </a:xfrm>
          <a:prstGeom prst="ellipse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00132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27432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Threshold
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520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Optimize the classification threshold for F1-Score rather than default 0.5 cutoff.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15C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0176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15C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15C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760720"/>
            <a:ext cx="11420856" cy="749808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58338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XGBoost?  Tree-based ensembles are robust to class imbalance, handle mixed feature types, and provide built-in feature importance — ideal for financial anomaly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Rethinking Success: Why 'Accuracy' Is a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48006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73152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233C"/>
                </a:solidFill>
                <a:latin typeface="Calibri"/>
              </a:rPr>
              <a:t>❌  The Accuracy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EF233C"/>
                </a:solidFill>
                <a:latin typeface="Calibri"/>
              </a:rPr>
              <a:t>99.87% Accuracy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← A model that predicts Normal for everything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Fraud Caught: 0 out of 387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6580"/>
                </a:solidFill>
                <a:latin typeface="Calibri"/>
              </a:rPr>
              <a:t>This is not a model — it is a rubber stamp.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57784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778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Calibri"/>
              </a:rPr>
              <a:t>✓  What We Actually Measure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331720"/>
            <a:ext cx="5166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4414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8892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Of all transactions we flag as fraud, what % are actually fraud?
Protects legitimate customers from being blocked.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703320"/>
            <a:ext cx="516636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8130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6052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Of all actual fraud, what % do we catch?
Protects the business from financial loss.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074920"/>
            <a:ext cx="5166360" cy="54864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5184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E0B"/>
                </a:solidFill>
                <a:latin typeface="Calibri"/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53212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0"/>
                </a:solidFill>
                <a:latin typeface="Calibri"/>
              </a:rPr>
              <a:t>The harmonic mean of Precision and Recall.
The single best metric for imbalanced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Model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737360"/>
            <a:ext cx="3566160" cy="3474720"/>
          </a:xfrm>
          <a:prstGeom prst="rect">
            <a:avLst/>
          </a:prstGeom>
          <a:solidFill>
            <a:srgbClr val="0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691640"/>
            <a:ext cx="3566160" cy="347472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691640"/>
            <a:ext cx="356616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9202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6D6A0"/>
                </a:solidFill>
                <a:latin typeface="Calibri"/>
              </a:rPr>
              <a:t>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The balanced measure of overall model quality on imbalanced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737360"/>
            <a:ext cx="3566160" cy="3474720"/>
          </a:xfrm>
          <a:prstGeom prst="rect">
            <a:avLst/>
          </a:prstGeom>
          <a:solidFill>
            <a:srgbClr val="0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8536" y="1691640"/>
            <a:ext cx="3566160" cy="347472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691640"/>
            <a:ext cx="356616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8536" y="19202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  <a:latin typeface="Calibri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52044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Only 1 in 8 flagged users is actually legitimate — minimal friction.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3" y="1737360"/>
            <a:ext cx="3566160" cy="3474720"/>
          </a:xfrm>
          <a:prstGeom prst="rect">
            <a:avLst/>
          </a:prstGeom>
          <a:solidFill>
            <a:srgbClr val="0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93023" y="1691640"/>
            <a:ext cx="3566160" cy="347472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3023" y="1691640"/>
            <a:ext cx="3566160" cy="9144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19202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BE0B"/>
                </a:solidFill>
                <a:latin typeface="Calibri"/>
              </a:rPr>
              <a:t>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3" y="352044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80"/>
                </a:solidFill>
                <a:latin typeface="Calibri"/>
              </a:rPr>
              <a:t>The model catches 87 out of every 100 fraudsters in the dataset.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394960"/>
            <a:ext cx="11420856" cy="1143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46811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80"/>
                </a:solidFill>
                <a:latin typeface="Calibri"/>
              </a:rPr>
              <a:t>Model: XGBoost Classifier   |   Imbalance: scale_pos_weight = 348.43   |   Dataset: 318,131 PaySim 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064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 F1-Score of 0.87 on a dataset with 99.87% class imbalance is a strong, production-viable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BUSINESS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Business ROI: Confusion Matrix Decoded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233C"/>
                </a:solidFill>
                <a:latin typeface="Calibri"/>
              </a:rPr>
              <a:t>PREDICTED: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4173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  <a:latin typeface="Calibri"/>
              </a:rPr>
              <a:t>PREDICTED: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258567"/>
            <a:ext cx="822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233C"/>
                </a:solidFill>
                <a:latin typeface="Calibri"/>
              </a:rPr>
              <a:t>ACTUAL
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4178807"/>
            <a:ext cx="822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ACTUAL
NORMAL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874519"/>
            <a:ext cx="2560320" cy="19202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205739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D6A0"/>
                </a:solidFill>
                <a:latin typeface="Calibri"/>
              </a:rPr>
              <a:t>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TRUE POSITIVES
✓ Fraudsters Caught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874519"/>
            <a:ext cx="2560320" cy="1920240"/>
          </a:xfrm>
          <a:prstGeom prst="rect">
            <a:avLst/>
          </a:prstGeom>
          <a:solidFill>
            <a:srgbClr val="FF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205739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BE0B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803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FALSE NEGATIVES
Missed Fraud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794759"/>
            <a:ext cx="2560320" cy="1920240"/>
          </a:xfrm>
          <a:prstGeom prst="rect">
            <a:avLst/>
          </a:prstGeom>
          <a:solidFill>
            <a:srgbClr val="FF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97763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BE0B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80059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FALSE POSITIVES
Legit Users Flagged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794759"/>
            <a:ext cx="2560320" cy="19202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397763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D6A0"/>
                </a:solidFill>
                <a:latin typeface="Calibri"/>
              </a:rPr>
              <a:t>27,603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80059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TRUE NEGATIVES
✓ Legit Customers Safe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600200"/>
            <a:ext cx="3703320" cy="480060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Business 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87% of fraudsters stopped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69 out of 79 fraud cases were blocked before causing loss.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0B4D8"/>
                </a:solidFill>
                <a:latin typeface="Calibri"/>
              </a:rPr>
              <a:t>99.96% of customers unaffected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Only 10 out of 27,613 legitimate users were inconvenienced.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FFBE0B"/>
                </a:solidFill>
                <a:latin typeface="Calibri"/>
              </a:rPr>
              <a:t>Net Outcome: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0C8E8"/>
                </a:solidFill>
                <a:latin typeface="Calibri"/>
              </a:rPr>
              <a:t>Maximum fraud prevention with near-zero legitimate customer friction — the optimal balance for startup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15C"/>
                </a:solidFill>
                <a:latin typeface="Calibri"/>
              </a:rPr>
              <a:t>Real-Time Deployment: Streamlit Risk-Scoring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12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4800600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Dashboard Capabilities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7744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Real-Time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0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Input any transaction parameters and receive an instant fraud probability score.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15468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36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 Level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472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Clear LOW / MEDIUM / HIGH risk classification with colour-coded visual alerts.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93192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913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24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Displays which transaction attributes contributed most to the risk score.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70916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90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Threshold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Ops teams can adjust the decision boundary to balance Precision vs. Recall live.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548640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Batch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Upload a CSV of transactions for bulk fraud screening in seconds.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00200"/>
            <a:ext cx="553212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15C"/>
                </a:solidFill>
                <a:latin typeface="Calibri"/>
              </a:rPr>
              <a:t>System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286000"/>
            <a:ext cx="516636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3225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User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060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Transaction parameters entered via web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94436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6580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081528"/>
            <a:ext cx="5166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3118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015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Real-time feature pipeline (type encoding, delta balance)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7398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6580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77056"/>
            <a:ext cx="5166360" cy="658368"/>
          </a:xfrm>
          <a:prstGeom prst="rect">
            <a:avLst/>
          </a:prstGeom>
          <a:solidFill>
            <a:srgbClr val="1A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913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XGBoost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1970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Trained model returns fraud probability 0.0 –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53542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6580"/>
                </a:solidFill>
                <a:latin typeface="Calibri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672584"/>
            <a:ext cx="5166360" cy="658368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926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Threshold comparison → LOW / MEDIUM / HIGH flag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33095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6580"/>
                </a:solidFill>
                <a:latin typeface="Calibr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468112"/>
            <a:ext cx="5166360" cy="658368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5504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7881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Visual result displayed instantly in Streamlit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21945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ROADMAP  &amp;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80"/>
                </a:solidFill>
                <a:latin typeface="Calibri"/>
              </a:rPr>
              <a:t>13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547872" cy="384048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547872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Phase 1
Near-Term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151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Graph-based fraud network detection — flagging fraud rings, not just individuals.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201168" cy="20116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295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Real-time Kafka streaming pipeline for sub-second scoring at scale.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80560"/>
            <a:ext cx="201168" cy="20116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SHAP explainability layer for full regulatory audit trails.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691640"/>
            <a:ext cx="3547872" cy="384048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0248" y="1691640"/>
            <a:ext cx="354787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87452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Phase 2
Mid-Term</a:t>
            </a:r>
          </a:p>
        </p:txBody>
      </p:sp>
      <p:sp>
        <p:nvSpPr>
          <p:cNvPr id="18" name="Oval 17"/>
          <p:cNvSpPr/>
          <p:nvPr/>
        </p:nvSpPr>
        <p:spPr>
          <a:xfrm>
            <a:off x="4453128" y="2651760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3168" y="26151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LSTM / Transformer model to incorporate sequential transaction behaviour.</a:t>
            </a:r>
          </a:p>
        </p:txBody>
      </p:sp>
      <p:sp>
        <p:nvSpPr>
          <p:cNvPr id="20" name="Oval 19"/>
          <p:cNvSpPr/>
          <p:nvPr/>
        </p:nvSpPr>
        <p:spPr>
          <a:xfrm>
            <a:off x="4453128" y="3566160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5295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Unsupervised anomaly detection for novel, never-seen fraud patterns.</a:t>
            </a:r>
          </a:p>
        </p:txBody>
      </p:sp>
      <p:sp>
        <p:nvSpPr>
          <p:cNvPr id="22" name="Oval 21"/>
          <p:cNvSpPr/>
          <p:nvPr/>
        </p:nvSpPr>
        <p:spPr>
          <a:xfrm>
            <a:off x="4453128" y="4480560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3168" y="44439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A/B testing framework to measure model ROI in production.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1691640"/>
            <a:ext cx="3547872" cy="384048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74736" y="1691640"/>
            <a:ext cx="3547872" cy="9144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6" y="187452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E0B"/>
                </a:solidFill>
                <a:latin typeface="Calibri"/>
              </a:rPr>
              <a:t>Phase 3
Strategic</a:t>
            </a:r>
          </a:p>
        </p:txBody>
      </p:sp>
      <p:sp>
        <p:nvSpPr>
          <p:cNvPr id="27" name="Oval 26"/>
          <p:cNvSpPr/>
          <p:nvPr/>
        </p:nvSpPr>
        <p:spPr>
          <a:xfrm>
            <a:off x="8357616" y="2651760"/>
            <a:ext cx="201168" cy="201168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77656" y="26151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Federated learning across partner banks — train on distributed data without sharing it.</a:t>
            </a:r>
          </a:p>
        </p:txBody>
      </p:sp>
      <p:sp>
        <p:nvSpPr>
          <p:cNvPr id="29" name="Oval 28"/>
          <p:cNvSpPr/>
          <p:nvPr/>
        </p:nvSpPr>
        <p:spPr>
          <a:xfrm>
            <a:off x="8357616" y="3566160"/>
            <a:ext cx="201168" cy="201168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77656" y="35295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Adaptive thresholds that auto-adjust based on real-time fraud rate signals.</a:t>
            </a:r>
          </a:p>
        </p:txBody>
      </p:sp>
      <p:sp>
        <p:nvSpPr>
          <p:cNvPr id="31" name="Oval 30"/>
          <p:cNvSpPr/>
          <p:nvPr/>
        </p:nvSpPr>
        <p:spPr>
          <a:xfrm>
            <a:off x="8357616" y="4480560"/>
            <a:ext cx="201168" cy="201168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7656" y="4443984"/>
            <a:ext cx="2907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4"/>
                </a:solidFill>
                <a:latin typeface="Calibri"/>
              </a:rPr>
              <a:t>Chargeback prediction module to anticipate disputes before they occur.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15000"/>
            <a:ext cx="11457432" cy="868680"/>
          </a:xfrm>
          <a:prstGeom prst="rect">
            <a:avLst/>
          </a:prstGeom>
          <a:solidFill>
            <a:srgbClr val="0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779008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Questions?   —   Mohith   |   Real-Time Financial Fraud Detection Capstone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5806440"/>
            <a:ext cx="219456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58338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1353</Words>
  <Application>Microsoft Office PowerPoint</Application>
  <PresentationFormat>Custom</PresentationFormat>
  <Paragraphs>219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Financial Fraud Detection System</dc:title>
  <dc:subject/>
  <dc:creator>Manjunath Mohith</dc:creator>
  <cp:keywords/>
  <dc:description>generated using python-pptx</dc:description>
  <cp:lastModifiedBy>Mohith M</cp:lastModifiedBy>
  <cp:revision>2</cp:revision>
  <dcterms:created xsi:type="dcterms:W3CDTF">2013-01-27T09:14:16Z</dcterms:created>
  <dcterms:modified xsi:type="dcterms:W3CDTF">2026-05-27T08:41:48Z</dcterms:modified>
  <cp:category/>
</cp:coreProperties>
</file>